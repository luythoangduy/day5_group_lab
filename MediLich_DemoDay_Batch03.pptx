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BATCH 03 · AI 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MediLịch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Scan đơn thuốc → Lịch uống thông minh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4389120" cy="59436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4200" b="1">
                <a:solidFill>
                  <a:srgbClr val="1B6B5A"/>
                </a:solidFill>
                <a:latin typeface="Aptos"/>
              </a:rPr>
              <a:t>MEDILỊCH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521208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800" b="0">
                <a:solidFill>
                  <a:srgbClr val="1C2933"/>
                </a:solidFill>
                <a:latin typeface="Aptos"/>
              </a:rPr>
              <a:t>Scan đơn thuốc → Lịch uống + Thẻ thuốc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401568"/>
            <a:ext cx="1463040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100" b="1">
                <a:solidFill>
                  <a:srgbClr val="5D6974"/>
                </a:solidFill>
                <a:latin typeface="Aptos"/>
              </a:rPr>
              <a:t>Team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30752"/>
            <a:ext cx="438912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3895344"/>
            <a:ext cx="3986783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Batch 03 · Healthcare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3977639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Domain: medication adherence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Approach: human-in-the-loop AI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Outcome: lịch uống an toàn hơn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82880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42248" y="197510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842248" y="1975104"/>
            <a:ext cx="1655064" cy="438912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0" y="209397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Quét đơn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88552" y="258775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267919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Ảnh đơn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302666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1704" y="311810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Demo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346557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61704" y="3557016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Phân tích AI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88552" y="3904487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61704" y="3995927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Xác nhận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0" y="23317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93408" y="24780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93408" y="2478024"/>
            <a:ext cx="1655064" cy="438912"/>
          </a:xfrm>
          <a:prstGeom prst="rect">
            <a:avLst/>
          </a:prstGeom>
          <a:solidFill>
            <a:srgbClr val="348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25968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Nhắc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30906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12864" y="31821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08:00 Amoxicillin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39712" y="35295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12864" y="36210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14:00 Paracetamol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39712" y="39684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12864" y="40599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21:00 Vitamin 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5080" y="5486400"/>
            <a:ext cx="777240" cy="310896"/>
          </a:xfrm>
          <a:prstGeom prst="round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SPEC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69480" y="5486400"/>
            <a:ext cx="640080" cy="310896"/>
          </a:xfrm>
          <a:prstGeom prst="roundRect">
            <a:avLst/>
          </a:prstGeom>
          <a:solidFill>
            <a:srgbClr val="2A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UX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5486400"/>
            <a:ext cx="1143000" cy="310896"/>
          </a:xfrm>
          <a:prstGeom prst="roundRect">
            <a:avLst/>
          </a:prstGeom>
          <a:solidFill>
            <a:srgbClr val="6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PROTOTYPE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0" y="5486400"/>
            <a:ext cx="1234440" cy="310896"/>
          </a:xfrm>
          <a:prstGeom prst="roundRect">
            <a:avLst/>
          </a:prstGeom>
          <a:solidFill>
            <a:srgbClr val="F4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REFLECTION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Vấn Đề &amp; Tầm Nhìn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Pain không nằm ở nhắc thuốc, mà ở chuyển đơn thành lịch.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57400"/>
            <a:ext cx="31546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21992"/>
            <a:ext cx="275234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BA1A1A"/>
                </a:solidFill>
                <a:latin typeface="Aptos"/>
              </a:rPr>
              <a:t>Current Pain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2432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Nhập lịch thủ công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Dễ sai tần suất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Không hiểu tên thuốc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App chưa scan đơn Việt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057400"/>
            <a:ext cx="31546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221992"/>
            <a:ext cx="275234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Strategic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62432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OCR chưa đủ giá trị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Cần chuyển thành hành động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Cần kiểm soát rủi ro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User phải xác nhận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2057400"/>
            <a:ext cx="3154680" cy="2971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2221992"/>
            <a:ext cx="275234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624328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Uống đúng giờ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Hiểu đúng thuốc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Giảm nhập tay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An toàn trước tốc độ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FUNCTIONAL &amp; NON-FUNCTIONAL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SPEC: Yêu Cầu Sản Phẩm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Một lát cắt hẹp, giá trị rõ.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965960"/>
            <a:ext cx="32918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88950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Functional Requirements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532888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Upload/chụp ảnh đơn thuốc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AI trích xuất từng dòng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Review trước khi lưu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Tự tạo lịch nhắc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Hiển thị thẻ thuốc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Tìm nhà thuốc gần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29184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30552"/>
            <a:ext cx="288950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Non-functional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8"/>
            <a:ext cx="2880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API key không lộ client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Có fixture demo offline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Mobile-first 390px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Không thay tư vấn y tế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Backend trả JSON an toàn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Luồng demo dưới 5 phút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196596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130552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6F50A0"/>
                </a:solidFill>
                <a:latin typeface="Aptos"/>
              </a:rPr>
              <a:t>Acceptance Criteria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532888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3 preset chạy được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Chặn lỗi nguy hiểm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Lịch sinh đúng slot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Drug cards render đúng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Citation chỉ khi khớp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Server chạy localhost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SOLUTION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Stack gọn, đủ nhanh cho MVP chạy thật.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38528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03120"/>
            <a:ext cx="21122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05456"/>
            <a:ext cx="2103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HTML, CSS, Vanilla JS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ES Modules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SessionStorage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Mobile Android shell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938528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2103120"/>
            <a:ext cx="21122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505456"/>
            <a:ext cx="2103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Node.js + Express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Multer upload memory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dotenv API key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REST API endpoints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938528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103120"/>
            <a:ext cx="21122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6F50A0"/>
                </a:solidFill>
                <a:latin typeface="Aptos"/>
              </a:rPr>
              <a:t>AI &amp; OCR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505456"/>
            <a:ext cx="2103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OpenAI Vision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OpenAI drug info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VietOCR optional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JSON normalization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938528"/>
            <a:ext cx="2514600" cy="3474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2103120"/>
            <a:ext cx="21122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F4B037"/>
                </a:solidFill>
                <a:latin typeface="Aptos"/>
              </a:rPr>
              <a:t>Data &amp; 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505456"/>
            <a:ext cx="210312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Local drugs.json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Vinmec citations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Overpass nearby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Fixture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PERSONA &amp;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UX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Người dùng cần ít bước, ít rủi 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108960" cy="38404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084832"/>
            <a:ext cx="270662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Persona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697479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Người bệnh lớn tuổi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Người nhà chăm sóc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Quen smartphone cơ bản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Sợ nhập sai lịch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Cần chữ rõ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2258568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Nhận đơn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9976" y="2532888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Giấy / screenshot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9592" y="2514600"/>
            <a:ext cx="448056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2258568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Chụp ảnh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532888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Một thao tác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28431" y="2514600"/>
            <a:ext cx="448057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549640" y="214884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258568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AI đọc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77656" y="2532888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Bản nháp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630168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61688" y="3739896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9976" y="4014216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Sửa từng dòng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79592" y="3995928"/>
            <a:ext cx="448056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400800" y="3630168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8" y="3739896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Lưu lịch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4014216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Nhắc uống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028431" y="3995928"/>
            <a:ext cx="448057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549640" y="3630168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59368" y="3739896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Xem thuốc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7656" y="4014216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Hiểu rõ hơn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13248"/>
            <a:ext cx="5669280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1">
                <a:solidFill>
                  <a:srgbClr val="1C2933"/>
                </a:solidFill>
                <a:latin typeface="Aptos"/>
              </a:rPr>
              <a:t>Wireframe flow: Scan → Review → Nhắc → Lịch → Thuốc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Kiến Trúc Hệ Thống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Client nhẹ, backend kiểm soát rủi ro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880360"/>
            <a:ext cx="16002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990088"/>
            <a:ext cx="138074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264408"/>
            <a:ext cx="134416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index.html + JS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880360"/>
            <a:ext cx="173736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0088" y="2990088"/>
            <a:ext cx="151790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API 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08376" y="3264408"/>
            <a:ext cx="148132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js/api.js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880360"/>
            <a:ext cx="1783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84648" y="2990088"/>
            <a:ext cx="156362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Express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2936" y="3264408"/>
            <a:ext cx="152704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server/index.js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88352" y="2011680"/>
            <a:ext cx="1783080" cy="749808"/>
          </a:xfrm>
          <a:prstGeom prst="roundRect">
            <a:avLst/>
          </a:prstGeom>
          <a:solidFill>
            <a:srgbClr val="E5F5E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121408"/>
            <a:ext cx="156362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OpenAI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395728"/>
            <a:ext cx="152704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Vision + 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3767328"/>
            <a:ext cx="1783080" cy="749808"/>
          </a:xfrm>
          <a:prstGeom prst="roundRect">
            <a:avLst/>
          </a:prstGeom>
          <a:solidFill>
            <a:srgbClr val="E5F5E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3877056"/>
            <a:ext cx="156362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VietOCR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4151376"/>
            <a:ext cx="152704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optional sidecar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46920" y="2011680"/>
            <a:ext cx="1783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56648" y="2121408"/>
            <a:ext cx="156362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Vinmec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74936" y="2395728"/>
            <a:ext cx="152704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citation lookup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46920" y="3767328"/>
            <a:ext cx="17830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B6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3877056"/>
            <a:ext cx="1563624" cy="22860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1200" b="1">
                <a:solidFill>
                  <a:srgbClr val="1C2933"/>
                </a:solidFill>
                <a:latin typeface="Aptos"/>
              </a:rPr>
              <a:t>Overpass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4151376"/>
            <a:ext cx="1527048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0">
                <a:solidFill>
                  <a:srgbClr val="5D6974"/>
                </a:solidFill>
                <a:latin typeface="Aptos"/>
              </a:rPr>
              <a:t>nearby places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395728" y="3246120"/>
            <a:ext cx="457200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636008" y="3246120"/>
            <a:ext cx="420624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6876288" y="2450592"/>
            <a:ext cx="484632" cy="64008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876288" y="3429000"/>
            <a:ext cx="484632" cy="68580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9189720" y="2395728"/>
            <a:ext cx="429768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9189720" y="4160520"/>
            <a:ext cx="429768" cy="0"/>
          </a:xfrm>
          <a:prstGeom prst="line">
            <a:avLst/>
          </a:prstGeom>
          <a:ln w="22860">
            <a:solidFill>
              <a:srgbClr val="1B6B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77240" y="4983480"/>
            <a:ext cx="10652760" cy="685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8408" y="5148072"/>
            <a:ext cx="1025042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Main 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" y="5550408"/>
            <a:ext cx="102412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C2933"/>
                </a:solidFill>
                <a:latin typeface="Aptos"/>
              </a:defRPr>
            </a:pPr>
            <a:r>
              <a:t>Image → OCR/AI → Review → Schedule → Reminder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Tính Năng 1: AI Scan Có Kiểm Soát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AI tạo bản nháp, người dùng là người quyết định.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9718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25694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Business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78608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Giảm nhập tay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Tạo bản nháp nhanh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User xác nhận cuối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Chặn rủi ro cao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2011680"/>
            <a:ext cx="29718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2176272"/>
            <a:ext cx="25694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Technical 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578608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Multer nhận ảnh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OpenAI Vision parse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VietOCR khi bật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normalizeLines()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reviewDrugNames()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011680"/>
            <a:ext cx="2971800" cy="3566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2176272"/>
            <a:ext cx="256946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BA1A1A"/>
                </a:solidFill>
                <a:latin typeface="Aptos"/>
              </a:rPr>
              <a:t>Safety Guardrails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2578608"/>
            <a:ext cx="25603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Confidence badge vàng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Chặn ngoài 1–4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Rule Amoxicillin risky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Disable nút lưu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CORE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Tính Năng 2: Lịch Nhắc + Thẻ Thuốc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Biến đơn thuốc thành hành động hằng ngày.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93392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Reminder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60320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buildSchedule() sinh events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Slot theo tần suất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Taken state trong Set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Toast giả lập notification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93392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57984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6F50A0"/>
                </a:solidFill>
                <a:latin typeface="Aptos"/>
              </a:rPr>
              <a:t>Drug Cards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60320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matchDrug() local trước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AI cho thuốc thiếu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Client aiCache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Vinmec citation thật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93392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157984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Nearby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60320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Geolocation browser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Overpass OSM query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Pharmacy / hospital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Không hứa tồn kho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PRODUCT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Demo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Code thật, giao diện thật, flow hoàn chỉnh.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1031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8407" y="22494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78407" y="2249424"/>
            <a:ext cx="1655064" cy="438912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682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Scan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4712" y="28620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7864" y="29535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Ảnh đơn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24712" y="33009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7864" y="33924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Demo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24712" y="37398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38313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Tải mẫu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" y="4178808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864" y="4270248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Phân tích 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21031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172968" y="22494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72968" y="2249424"/>
            <a:ext cx="1655064" cy="438912"/>
          </a:xfrm>
          <a:prstGeom prst="rect">
            <a:avLst/>
          </a:prstGeom>
          <a:solidFill>
            <a:srgbClr val="2A6B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0" y="23682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19272" y="28620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92424" y="29535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Amoxicillin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9272" y="33009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92424" y="33924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1 viên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19272" y="37398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2424" y="38313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3 lần/ngày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19272" y="4178808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92424" y="4270248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Lưu &amp; sync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57800" y="21031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67528" y="22494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367528" y="2249424"/>
            <a:ext cx="1655064" cy="438912"/>
          </a:xfrm>
          <a:prstGeom prst="rect">
            <a:avLst/>
          </a:prstGeom>
          <a:solidFill>
            <a:srgbClr val="3484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23682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Nhắc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13832" y="28620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586984" y="29535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08:00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13832" y="33009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86984" y="33924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Hôm nay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13832" y="37398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86984" y="38313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Đã uống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13832" y="4178808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586984" y="4270248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Nhắc lại 10p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452360" y="21031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62088" y="22494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62088" y="2249424"/>
            <a:ext cx="1655064" cy="438912"/>
          </a:xfrm>
          <a:prstGeom prst="rect">
            <a:avLst/>
          </a:prstGeom>
          <a:solidFill>
            <a:srgbClr val="6F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23682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Lịch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708392" y="28620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81544" y="29535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Tháng 6/2026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08392" y="33009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81544" y="33924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Ngày có chấm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08392" y="37398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81544" y="38313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Đồng bộ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08392" y="4178808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81544" y="4270248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Sheet 2 cột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46920" y="2103120"/>
            <a:ext cx="1874519" cy="3429000"/>
          </a:xfrm>
          <a:prstGeom prst="roundRect">
            <a:avLst/>
          </a:prstGeom>
          <a:solidFill>
            <a:srgbClr val="131E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756648" y="2249424"/>
            <a:ext cx="1655064" cy="3136392"/>
          </a:xfrm>
          <a:prstGeom prst="roundRect">
            <a:avLst/>
          </a:prstGeom>
          <a:solidFill>
            <a:srgbClr val="F4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756648" y="2249424"/>
            <a:ext cx="1655064" cy="438912"/>
          </a:xfrm>
          <a:prstGeom prst="rect">
            <a:avLst/>
          </a:prstGeom>
          <a:solidFill>
            <a:srgbClr val="F4B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875520" y="2368296"/>
            <a:ext cx="13716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Thuốc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902952" y="2862072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76104" y="2953512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Thẻ thuốc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902952" y="3300984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76104" y="3392424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Cách uống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902952" y="3739896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76104" y="3831335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Vinmec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902952" y="4178808"/>
            <a:ext cx="1362456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B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76104" y="4270248"/>
            <a:ext cx="1225296" cy="12801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680" b="0">
                <a:solidFill>
                  <a:srgbClr val="1C2933"/>
                </a:solidFill>
                <a:latin typeface="Aptos"/>
              </a:rPr>
              <a:t>Nhà thuốc gần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1560" y="5806440"/>
            <a:ext cx="7772400" cy="256032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1">
                <a:solidFill>
                  <a:srgbClr val="1C2933"/>
                </a:solidFill>
                <a:latin typeface="Aptos"/>
              </a:rPr>
              <a:t>Demo paths: Happy · Low-confidence · Failure · Correction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Kết Quả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Đo theo readiness demo và giá trị thực tiễn.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1B6B5A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preset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2A6BB1"/>
                </a:solidFill>
                <a:latin typeface="Aptos"/>
              </a:rPr>
              <a:t>≤30s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scan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BA1A1A"/>
                </a:solidFill>
                <a:latin typeface="Aptos"/>
              </a:rPr>
              <a:t>1–4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frequency guard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6F50A0"/>
                </a:solidFill>
                <a:latin typeface="Aptos"/>
              </a:rPr>
              <a:t>390px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mobile width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1B6B5A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client key leak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55480" y="2148840"/>
            <a:ext cx="1508760" cy="4114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500" b="1">
                <a:solidFill>
                  <a:srgbClr val="F4B037"/>
                </a:solidFill>
                <a:latin typeface="Aptos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19" y="2587752"/>
            <a:ext cx="1783080" cy="310896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900" b="0">
                <a:solidFill>
                  <a:srgbClr val="5D6974"/>
                </a:solidFill>
                <a:latin typeface="Aptos"/>
              </a:rPr>
              <a:t>core tabs/flows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79476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959352"/>
            <a:ext cx="4489703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Readiness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361688"/>
            <a:ext cx="44805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Fixture fallback works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Schedule sinh đúng slot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Drug cards render theo đơn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794760"/>
            <a:ext cx="489204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3959352"/>
            <a:ext cx="4489703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BA1A1A"/>
                </a:solidFill>
                <a:latin typeface="Aptos"/>
              </a:rPr>
              <a:t>Risk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61688"/>
            <a:ext cx="448055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Failure path bị chặn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Citation không bịa URL</a:t>
            </a:r>
          </a:p>
          <a:p>
            <a:pPr>
              <a:spcAft>
                <a:spcPts val="500"/>
              </a:spcAft>
              <a:defRPr sz="1300">
                <a:solidFill>
                  <a:srgbClr val="1C2933"/>
                </a:solidFill>
                <a:latin typeface="Aptos"/>
              </a:defRPr>
            </a:pPr>
            <a:r>
              <a:t>Backend giữ API 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LEARNING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Thách thức đã vượt qua và bài học rút ra.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30552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BA1A1A"/>
                </a:solidFill>
                <a:latin typeface="Aptos"/>
              </a:rPr>
              <a:t>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532888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OCR tiếng Việt nhiễu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Sai tần suất nguy hiểm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Citation dễ hallucinate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Demo cần fallback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Scope dễ phình 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96596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2130552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How We 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532888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Augmentation, not automation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Review bắt buộc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Fixture demo offline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Citation lookup thật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Giữ scope hẹp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96596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130552"/>
            <a:ext cx="284378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Lessons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532888"/>
            <a:ext cx="28346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AI tốt cho bản nháp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Healthcare cần human loop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Failure path quan trọng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SPEC phải khớp code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Demo cần kịch bản rõ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5303520" cy="27432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000" b="1">
                <a:solidFill>
                  <a:srgbClr val="1B6B5A"/>
                </a:solidFill>
                <a:latin typeface="Aptos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7680960" cy="56692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2700" b="1">
                <a:solidFill>
                  <a:srgbClr val="1C2933"/>
                </a:solidFill>
                <a:latin typeface="Aptos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34440"/>
            <a:ext cx="7863840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300" b="0">
                <a:solidFill>
                  <a:srgbClr val="5D6974"/>
                </a:solidFill>
                <a:latin typeface="Aptos"/>
              </a:rPr>
              <a:t>MediLịch · Uống đúng, hiểu đúng.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719072"/>
            <a:ext cx="1143000" cy="41148"/>
          </a:xfrm>
          <a:prstGeom prst="rect">
            <a:avLst/>
          </a:prstGeom>
          <a:solidFill>
            <a:srgbClr val="1B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446520"/>
            <a:ext cx="41148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r"/>
            <a:r>
              <a:rPr sz="900" b="1">
                <a:solidFill>
                  <a:srgbClr val="5D6974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46520"/>
            <a:ext cx="3200400" cy="18288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800" b="0">
                <a:solidFill>
                  <a:srgbClr val="5D6974"/>
                </a:solidFill>
                <a:latin typeface="Aptos"/>
              </a:rPr>
              <a:t>MediLịch · Batch 03 Demo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176272"/>
            <a:ext cx="9875520" cy="47548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600" b="1">
                <a:solidFill>
                  <a:srgbClr val="1B6B5A"/>
                </a:solidFill>
                <a:latin typeface="Aptos"/>
              </a:rPr>
              <a:t>MediLịch giúp người bệnh chuyển đơn thuốc thành lịch uống an toàn.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5960" y="3154680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67128" y="3319272"/>
            <a:ext cx="243230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1B6B5A"/>
                </a:solidFill>
                <a:latin typeface="Aptos"/>
              </a:rPr>
              <a:t>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372160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Sẵn sàng trình diễn prototype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Happy · Failure · Correction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3154680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76088" y="3319272"/>
            <a:ext cx="243230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2A6BB1"/>
                </a:solidFill>
                <a:latin typeface="Aptos"/>
              </a:rPr>
              <a:t>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72160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Day5_group_lab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prototype/server → npm start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3154680"/>
            <a:ext cx="283464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DE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3319272"/>
            <a:ext cx="2432304" cy="320040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l"/>
            <a:r>
              <a:rPr sz="1500" b="1">
                <a:solidFill>
                  <a:srgbClr val="6F50A0"/>
                </a:solidFill>
                <a:latin typeface="Aptos"/>
              </a:rP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721608"/>
            <a:ext cx="2423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Team MediLịch</a:t>
            </a:r>
          </a:p>
          <a:p>
            <a:pPr>
              <a:spcAft>
                <a:spcPts val="500"/>
              </a:spcAft>
              <a:defRPr sz="1200">
                <a:solidFill>
                  <a:srgbClr val="1C2933"/>
                </a:solidFill>
                <a:latin typeface="Aptos"/>
              </a:defRPr>
            </a:pPr>
            <a:r>
              <a:t>Batch 03 Demo 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5166360"/>
            <a:ext cx="1645920" cy="384048"/>
          </a:xfrm>
          <a:prstGeom prst="rect">
            <a:avLst/>
          </a:prstGeom>
          <a:noFill/>
        </p:spPr>
        <p:txBody>
          <a:bodyPr wrap="none" lIns="18288" rIns="18288" anchor="t">
            <a:spAutoFit/>
          </a:bodyPr>
          <a:lstStyle/>
          <a:p>
            <a:pPr algn="ctr"/>
            <a:r>
              <a:rPr sz="2800" b="1">
                <a:solidFill>
                  <a:srgbClr val="1C2933"/>
                </a:solidFill>
                <a:latin typeface="Aptos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