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B6B5A">
              <a:alpha val="40000"/>
            </a:srgbClr>
          </a:solidFill>
          <a:ln w="12700">
            <a:solidFill>
              <a:srgbClr val="1B6B5A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028090">
              <a:alpha val="50000"/>
            </a:srgbClr>
          </a:solidFill>
          <a:ln w="12700">
            <a:solidFill>
              <a:srgbClr val="028090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840480"/>
            <a:ext cx="1828800" cy="1828800"/>
          </a:xfrm>
          <a:prstGeom prst="ellipse">
            <a:avLst/>
          </a:prstGeom>
          <a:solidFill>
            <a:srgbClr val="A8F0E0">
              <a:alpha val="30000"/>
            </a:srgbClr>
          </a:solidFill>
          <a:ln w="12700">
            <a:solidFill>
              <a:srgbClr val="A8F0E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097280"/>
            <a:ext cx="1005840" cy="1005840"/>
          </a:xfrm>
          <a:prstGeom prst="ellipse">
            <a:avLst/>
          </a:prstGeom>
          <a:solidFill>
            <a:srgbClr val="1B6B5A"/>
          </a:solidFill>
          <a:ln w="25400">
            <a:solidFill>
              <a:srgbClr val="A8F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15568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37360" y="10058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MediLịch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737360" y="1874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đơn thuốc · Xác nhận · Nhắc uống thuốc tự động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737360" y="2468880"/>
            <a:ext cx="3200400" cy="36576"/>
          </a:xfrm>
          <a:prstGeom prst="rect">
            <a:avLst/>
          </a:prstGeom>
          <a:solidFill>
            <a:srgbClr val="A8F0E0"/>
          </a:solidFill>
          <a:ln w="12700">
            <a:solidFill>
              <a:srgbClr val="A8F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260604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C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quản lý thuốc thông minh cho người Việt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0C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AI hỗ trợ bệnh nhân sau khám bệnh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thực chiến ·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B5A"/>
          </a:solidFill>
          <a:ln w="12700">
            <a:solidFill>
              <a:srgbClr val="1B6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 đề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 mỗi lần khám bệnh, bệnh nhân phải tự chép lại đơn thuốc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697480" cy="3291840"/>
          </a:xfrm>
          <a:prstGeom prst="rect">
            <a:avLst/>
          </a:prstGeom>
          <a:solidFill>
            <a:srgbClr val="F0FA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269748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10–15 phút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274320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Bệnh nhân phải đọc và chép tay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từng loại thuốc, liều lượng,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uống vào điện thoại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697480" cy="3291840"/>
          </a:xfrm>
          <a:prstGeom prst="rect">
            <a:avLst/>
          </a:prstGeom>
          <a:solidFill>
            <a:srgbClr val="F0FA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80160"/>
            <a:ext cx="2697480" cy="73152"/>
          </a:xfrm>
          <a:prstGeom prst="rect">
            <a:avLst/>
          </a:prstGeom>
          <a:solidFill>
            <a:srgbClr val="D69E2E"/>
          </a:solidFill>
          <a:ln w="12700">
            <a:solidFill>
              <a:srgbClr val="D69E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4630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❌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37560" y="2194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nhầm lẫn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274320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Chữ bác sĩ khó đọc, tên thuốc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phức tạp, dễ nhầm liều lượng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tần suất uống thuốc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0760" y="1280160"/>
            <a:ext cx="2697480" cy="3291840"/>
          </a:xfrm>
          <a:prstGeom prst="rect">
            <a:avLst/>
          </a:prstGeom>
          <a:solidFill>
            <a:srgbClr val="F0FA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280160"/>
            <a:ext cx="26974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463040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📋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17920" y="21945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nhắc nhở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2743200"/>
            <a:ext cx="2514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hệ thống tự động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nhắc uống thuốc đúng giờ,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bệnh nhân dễ bỏ liều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B6B5A">
              <a:alpha val="30000"/>
            </a:srgbClr>
          </a:solidFill>
          <a:ln w="12700">
            <a:solidFill>
              <a:srgbClr val="1B6B5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pháp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A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Chụp ảnh đơn thuốc → AI đọc → Bạn xác nhận → Lịch nhắc tự động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60120" y="1691640"/>
            <a:ext cx="1005840" cy="1005840"/>
          </a:xfrm>
          <a:prstGeom prst="ellipse">
            <a:avLst/>
          </a:prstGeom>
          <a:solidFill>
            <a:srgbClr val="1B6B5A"/>
          </a:solidFill>
          <a:ln w="25400">
            <a:solidFill>
              <a:srgbClr val="A8F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91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737360" y="1600200"/>
            <a:ext cx="320040" cy="320040"/>
          </a:xfrm>
          <a:prstGeom prst="ellipse">
            <a:avLst/>
          </a:prstGeom>
          <a:solidFill>
            <a:srgbClr val="A8F0E0"/>
          </a:solidFill>
          <a:ln w="12700">
            <a:solidFill>
              <a:srgbClr val="A8F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E28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Chụp / Upload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thuốc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7440" y="2148840"/>
            <a:ext cx="256032" cy="36576"/>
          </a:xfrm>
          <a:prstGeom prst="rect">
            <a:avLst/>
          </a:prstGeom>
          <a:solidFill>
            <a:srgbClr val="A8F0E0"/>
          </a:solidFill>
          <a:ln w="12700">
            <a:solidFill>
              <a:srgbClr val="A8F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44952" y="1691640"/>
            <a:ext cx="1005840" cy="1005840"/>
          </a:xfrm>
          <a:prstGeom prst="ellipse">
            <a:avLst/>
          </a:prstGeom>
          <a:solidFill>
            <a:srgbClr val="1B6B5A"/>
          </a:solidFill>
          <a:ln w="25400">
            <a:solidFill>
              <a:srgbClr val="A8F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44952" y="1691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822192" y="1600200"/>
            <a:ext cx="320040" cy="320040"/>
          </a:xfrm>
          <a:prstGeom prst="ellipse">
            <a:avLst/>
          </a:prstGeom>
          <a:solidFill>
            <a:srgbClr val="A8F0E0"/>
          </a:solidFill>
          <a:ln w="12700">
            <a:solidFill>
              <a:srgbClr val="A8F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E28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42032" y="28346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Phân tích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Vision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62272" y="2148840"/>
            <a:ext cx="256032" cy="36576"/>
          </a:xfrm>
          <a:prstGeom prst="rect">
            <a:avLst/>
          </a:prstGeom>
          <a:solidFill>
            <a:srgbClr val="A8F0E0"/>
          </a:solidFill>
          <a:ln w="12700">
            <a:solidFill>
              <a:srgbClr val="A8F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9784" y="1691640"/>
            <a:ext cx="1005840" cy="1005840"/>
          </a:xfrm>
          <a:prstGeom prst="ellipse">
            <a:avLst/>
          </a:prstGeom>
          <a:solidFill>
            <a:srgbClr val="1B6B5A"/>
          </a:solidFill>
          <a:ln w="25400">
            <a:solidFill>
              <a:srgbClr val="A8F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9784" y="1691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907024" y="1600200"/>
            <a:ext cx="320040" cy="320040"/>
          </a:xfrm>
          <a:prstGeom prst="ellipse">
            <a:avLst/>
          </a:prstGeom>
          <a:solidFill>
            <a:srgbClr val="A8F0E0"/>
          </a:solidFill>
          <a:ln w="12700">
            <a:solidFill>
              <a:srgbClr val="A8F0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07024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E28"/>
                </a:solidFill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26864" y="28346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Bạn xác nhận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chỉnh sửa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47104" y="2148840"/>
            <a:ext cx="256032" cy="36576"/>
          </a:xfrm>
          <a:prstGeom prst="rect">
            <a:avLst/>
          </a:prstGeom>
          <a:solidFill>
            <a:srgbClr val="A8F0E0"/>
          </a:solidFill>
          <a:ln w="12700">
            <a:solidFill>
              <a:srgbClr val="A8F0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14616" y="1691640"/>
            <a:ext cx="1005840" cy="1005840"/>
          </a:xfrm>
          <a:prstGeom prst="ellipse">
            <a:avLst/>
          </a:prstGeom>
          <a:solidFill>
            <a:srgbClr val="1B6B5A"/>
          </a:solidFill>
          <a:ln w="25400">
            <a:solidFill>
              <a:srgbClr val="A8F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14616" y="169164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7991856" y="1600200"/>
            <a:ext cx="320040" cy="320040"/>
          </a:xfrm>
          <a:prstGeom prst="ellipse">
            <a:avLst/>
          </a:prstGeom>
          <a:solidFill>
            <a:srgbClr val="A8F0E0"/>
          </a:solidFill>
          <a:ln w="12700">
            <a:solidFill>
              <a:srgbClr val="A8F0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91856" y="1600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E28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11696" y="28346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Lịch &amp; Nhắc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tạo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97280" y="3657600"/>
            <a:ext cx="6949440" cy="731520"/>
          </a:xfrm>
          <a:prstGeom prst="rect">
            <a:avLst/>
          </a:prstGeom>
          <a:solidFill>
            <a:srgbClr val="1B6B5A">
              <a:alpha val="70000"/>
            </a:srgbClr>
          </a:solidFill>
          <a:ln w="12700">
            <a:solidFill>
              <a:srgbClr val="A8F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97280" y="365760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"AI chỉ là bản nháp — Lịch nhắc chỉ được tạo SAU KHI bạn xác nhận"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A8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B5A"/>
          </a:solidFill>
          <a:ln w="12700">
            <a:solidFill>
              <a:srgbClr val="1B6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Tính Năng Chính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1874520"/>
          </a:xfrm>
          <a:prstGeom prst="rect">
            <a:avLst/>
          </a:prstGeom>
          <a:solidFill>
            <a:srgbClr val="F0FA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4864" cy="1874520"/>
          </a:xfrm>
          <a:prstGeom prst="rect">
            <a:avLst/>
          </a:prstGeom>
          <a:solidFill>
            <a:srgbClr val="1B6B5A"/>
          </a:solidFill>
          <a:ln w="12700">
            <a:solidFill>
              <a:srgbClr val="1B6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332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Quét Đơn Thuốc AI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ảnh đơn thuốc JPG/PNG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trích xuất tên thuốc, liều, tần suất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tin cậy cho từng trường dữ liệu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 đỏ cho liều lượng nguy hiểm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206240" cy="1874520"/>
          </a:xfrm>
          <a:prstGeom prst="rect">
            <a:avLst/>
          </a:prstGeom>
          <a:solidFill>
            <a:srgbClr val="F0FA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60120"/>
            <a:ext cx="54864" cy="18745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03327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Nhắc Uống Thuốc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 ngược đến liều tiếp theo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"Đã uống" &amp; "Nhắc sau 10 phút"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 sách nhắc trong ngày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Thử thông báo mock ngay trong app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206240" cy="1874520"/>
          </a:xfrm>
          <a:prstGeom prst="rect">
            <a:avLst/>
          </a:prstGeom>
          <a:solidFill>
            <a:srgbClr val="F0FA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71800"/>
            <a:ext cx="54864" cy="18745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449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Lịch Tự Động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474720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 diện tháng với chấm nhắc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sánh đơn thuốc ↔ sự kiện lịch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Chạm ngày để xem/chỉnh sửa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 bộ tự động khi lưu đơn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971800"/>
            <a:ext cx="4206240" cy="1874520"/>
          </a:xfrm>
          <a:prstGeom prst="rect">
            <a:avLst/>
          </a:prstGeom>
          <a:solidFill>
            <a:srgbClr val="F0FAF8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71800"/>
            <a:ext cx="54864" cy="1874520"/>
          </a:xfrm>
          <a:prstGeom prst="rect">
            <a:avLst/>
          </a:prstGeom>
          <a:solidFill>
            <a:srgbClr val="805AD5"/>
          </a:solidFill>
          <a:ln w="12700">
            <a:solidFill>
              <a:srgbClr val="805A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0449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5A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💊  Tra Cứu Thuốc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474720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Thẻ thông tin từng loại thuốc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 báo, cách dùng, tương tác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Trích dẫn từ DrugBank, PubMed, Bộ Y tế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nhà thuốc gần nhất qua GPS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B5A"/>
          </a:solidFill>
          <a:ln w="12700">
            <a:solidFill>
              <a:srgbClr val="1B6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 Kế An Toàn Là Trên Hết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trường AI trích xuất đều có điểm tin cậy và kiểm tra logic y tế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1051560"/>
          </a:xfrm>
          <a:prstGeom prst="rect">
            <a:avLst/>
          </a:prstGeom>
          <a:solidFill>
            <a:srgbClr val="F0FFF4"/>
          </a:solidFill>
          <a:ln w="19050">
            <a:solidFill>
              <a:srgbClr val="68D3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64008" cy="1051560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Độ tin cậy cao  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840480" y="1344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(≥ 0.65)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dữ liệu hiển thị bình thường.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Bệnh nhân có thể xem và chỉnh sửa tự 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8412480" cy="1051560"/>
          </a:xfrm>
          <a:prstGeom prst="rect">
            <a:avLst/>
          </a:prstGeom>
          <a:solidFill>
            <a:srgbClr val="FFFFF0"/>
          </a:solidFill>
          <a:ln w="19050">
            <a:solidFill>
              <a:srgbClr val="F6E0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423160"/>
            <a:ext cx="64008" cy="1051560"/>
          </a:xfrm>
          <a:prstGeom prst="rect">
            <a:avLst/>
          </a:prstGeom>
          <a:solidFill>
            <a:srgbClr val="F6E05E"/>
          </a:solidFill>
          <a:ln w="12700">
            <a:solidFill>
              <a:srgbClr val="F6E0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14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4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Độ tin cậy thấp  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40480" y="2532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4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(&lt; 0.65)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8803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Trường được tô màu vàng cảnh báo.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Bệnh nhân cần kiểm tra lại trước khi lưu.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611880"/>
            <a:ext cx="8412480" cy="1051560"/>
          </a:xfrm>
          <a:prstGeom prst="rect">
            <a:avLst/>
          </a:prstGeom>
          <a:solidFill>
            <a:srgbClr val="FFF5F5"/>
          </a:solidFill>
          <a:ln w="19050">
            <a:solidFill>
              <a:srgbClr val="FC81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611880"/>
            <a:ext cx="64008" cy="1051560"/>
          </a:xfrm>
          <a:prstGeom prst="rect">
            <a:avLst/>
          </a:prstGeom>
          <a:solidFill>
            <a:srgbClr val="FC8181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03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4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Lỗi nguy hiểm  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37216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4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(logic y tế sai)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Nút Lưu bị khóa. Ví dụ: Amoxicillin 1 lần/ngày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phải sửa thành 2–3 lần/ngày mới được lưu.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731520"/>
            <a:ext cx="3200400" cy="3200400"/>
          </a:xfrm>
          <a:prstGeom prst="ellipse">
            <a:avLst/>
          </a:prstGeom>
          <a:solidFill>
            <a:srgbClr val="1B6B5A">
              <a:alpha val="35000"/>
            </a:srgbClr>
          </a:solidFill>
          <a:ln w="12700">
            <a:solidFill>
              <a:srgbClr val="1B6B5A">
                <a:alpha val="3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743200" cy="384048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A8F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2743200" cy="411480"/>
          </a:xfrm>
          <a:prstGeom prst="rect">
            <a:avLst/>
          </a:prstGeom>
          <a:solidFill>
            <a:srgbClr val="A8F0E0">
              <a:alpha val="80000"/>
            </a:srgbClr>
          </a:solidFill>
          <a:ln w="12700">
            <a:solidFill>
              <a:srgbClr val="A8F0E0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 (Vanilla)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· Material Design 3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Page App (SPA)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Geolocation API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File Upload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743200" cy="384048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7EB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005840"/>
            <a:ext cx="2743200" cy="411480"/>
          </a:xfrm>
          <a:prstGeom prst="rect">
            <a:avLst/>
          </a:prstGeom>
          <a:solidFill>
            <a:srgbClr val="7EB5FF">
              <a:alpha val="80000"/>
            </a:srgbClr>
          </a:solidFill>
          <a:ln w="12700">
            <a:solidFill>
              <a:srgbClr val="7EB5FF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0241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B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55448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 Vision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Multer (file upload 12MB)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VietOCR (optional)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Overpass API (OpenStreetMap)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743200" cy="384048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BB6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005840"/>
            <a:ext cx="2743200" cy="411480"/>
          </a:xfrm>
          <a:prstGeom prst="rect">
            <a:avLst/>
          </a:prstGeom>
          <a:solidFill>
            <a:srgbClr val="FBB6CE">
              <a:alpha val="80000"/>
            </a:srgbClr>
          </a:solidFill>
          <a:ln w="12700">
            <a:solidFill>
              <a:srgbClr val="FBB6CE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102412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 liệu &amp; Deploy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1554480"/>
            <a:ext cx="2560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drugs.json (50+ loại thuốc)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sessionStorage (in-session)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demo (offline mode)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PWA-ready (static + backend)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DrugBank / PubMed citations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A8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B5A"/>
          </a:solidFill>
          <a:ln w="12700">
            <a:solidFill>
              <a:srgbClr val="1B6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Kịch Bản Demo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234440"/>
          </a:xfrm>
          <a:prstGeom prst="rect">
            <a:avLst/>
          </a:prstGeom>
          <a:solidFill>
            <a:srgbClr val="F0FFF4"/>
          </a:solidFill>
          <a:ln w="19050">
            <a:solidFill>
              <a:srgbClr val="68D39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64008" cy="1234440"/>
          </a:xfrm>
          <a:prstGeom prst="rect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24128"/>
            <a:ext cx="411480" cy="411480"/>
          </a:xfrm>
          <a:prstGeom prst="ellipse">
            <a:avLst/>
          </a:prstGeom>
          <a:solidFill>
            <a:srgbClr val="68D391"/>
          </a:solidFill>
          <a:ln w="12700">
            <a:solidFill>
              <a:srgbClr val="68D3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241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9875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Happy Path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2767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phút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38988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fixture "Đơn chuẩn" (3 loại thuốc)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Tất cả các trường tin cậy cao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Review → không cần sửa gì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Nhấn Lưu → Lịch nhắc được tạo ngay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286000"/>
            <a:ext cx="8595360" cy="1234440"/>
          </a:xfrm>
          <a:prstGeom prst="rect">
            <a:avLst/>
          </a:prstGeom>
          <a:solidFill>
            <a:srgbClr val="FFFFF0"/>
          </a:solidFill>
          <a:ln w="19050">
            <a:solidFill>
              <a:srgbClr val="F6E0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86000"/>
            <a:ext cx="64008" cy="1234440"/>
          </a:xfrm>
          <a:prstGeom prst="rect">
            <a:avLst/>
          </a:prstGeom>
          <a:solidFill>
            <a:srgbClr val="F6E05E"/>
          </a:solidFill>
          <a:ln w="12700">
            <a:solidFill>
              <a:srgbClr val="F6E0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395728"/>
            <a:ext cx="411480" cy="411480"/>
          </a:xfrm>
          <a:prstGeom prst="ellipse">
            <a:avLst/>
          </a:prstGeom>
          <a:solidFill>
            <a:srgbClr val="F6E05E"/>
          </a:solidFill>
          <a:ln w="12700">
            <a:solidFill>
              <a:srgbClr val="F6E0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95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3591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4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Độ Tin Cậy Thấp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0" y="23774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442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 giây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76148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fixture "Tần suất mờ" (confidence 0.52)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Trường tần suất tô màu vàng cảnh báo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Người dùng chỉnh sửa tần suất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Lưu thành công sau khi xác nhận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657600"/>
            <a:ext cx="8595360" cy="1234440"/>
          </a:xfrm>
          <a:prstGeom prst="rect">
            <a:avLst/>
          </a:prstGeom>
          <a:solidFill>
            <a:srgbClr val="FFF5F5"/>
          </a:solidFill>
          <a:ln w="19050">
            <a:solidFill>
              <a:srgbClr val="FC81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657600"/>
            <a:ext cx="64008" cy="1234440"/>
          </a:xfrm>
          <a:prstGeom prst="rect">
            <a:avLst/>
          </a:prstGeom>
          <a:solidFill>
            <a:srgbClr val="FC8181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767328"/>
            <a:ext cx="411480" cy="411480"/>
          </a:xfrm>
          <a:prstGeom prst="ellipse">
            <a:avLst/>
          </a:prstGeom>
          <a:solidFill>
            <a:srgbClr val="FC8181"/>
          </a:solidFill>
          <a:ln w="12700">
            <a:solidFill>
              <a:srgbClr val="FC81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7673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37307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4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Phát Hiện Lỗi Nguy Hiểm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74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phút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413308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fixture "Liều nguy hiểm"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Amoxicillin 1x/ngày → khối đỏ chặn lưu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Sửa thành 3x/ngày → lỗi giải phóng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Lưu → Thông điệp: sai tần suất = liều không đủ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6B5A"/>
          </a:solidFill>
          <a:ln w="12700">
            <a:solidFill>
              <a:srgbClr val="1B6B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2E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Nổi Bật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54864"/>
          </a:xfrm>
          <a:prstGeom prst="rect">
            <a:avLst/>
          </a:prstGeom>
          <a:solidFill>
            <a:srgbClr val="1B6B5A"/>
          </a:solidFill>
          <a:ln w="12700">
            <a:solidFill>
              <a:srgbClr val="1B6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🇻🇳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Vietnamese-first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 ưu cho đơn thuốc Việt Nam, tên thuốc tiếng Việt, giao diện hoàn toàn tiếng Việt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960120"/>
            <a:ext cx="2743200" cy="54864"/>
          </a:xfrm>
          <a:prstGeom prst="rect">
            <a:avLst/>
          </a:prstGeom>
          <a:solidFill>
            <a:srgbClr val="1B6B5A"/>
          </a:solidFill>
          <a:ln w="12700">
            <a:solidFill>
              <a:srgbClr val="1B6B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46120" y="1645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Safety-first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199339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trường AI đều có điểm tin cậy, cảnh báo 3 cấp độ, người dùng kiểm soát hoàn toàn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96012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960120"/>
            <a:ext cx="2743200" cy="54864"/>
          </a:xfrm>
          <a:prstGeom prst="rect">
            <a:avLst/>
          </a:prstGeom>
          <a:solidFill>
            <a:srgbClr val="1B6B5A"/>
          </a:solidFill>
          <a:ln w="12700">
            <a:solidFill>
              <a:srgbClr val="1B6B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097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26480" y="16459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citations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99339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 tin thuốc luôn có nguồn thực: DrugBank, PubMed, Bộ Y tế — không hallucinate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2743200" cy="54864"/>
          </a:xfrm>
          <a:prstGeom prst="rect">
            <a:avLst/>
          </a:prstGeom>
          <a:solidFill>
            <a:srgbClr val="1B6B5A"/>
          </a:solidFill>
          <a:ln w="12700">
            <a:solidFill>
              <a:srgbClr val="1B6B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65760" y="3611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Offline-ready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5760" y="395935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fixture demo hoạt động không cần mạng, phù hợp cho demo mọi lúc mọi nơi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9260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926080"/>
            <a:ext cx="2743200" cy="54864"/>
          </a:xfrm>
          <a:prstGeom prst="rect">
            <a:avLst/>
          </a:prstGeom>
          <a:solidFill>
            <a:srgbClr val="1B6B5A"/>
          </a:solidFill>
          <a:ln w="12700">
            <a:solidFill>
              <a:srgbClr val="1B6B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246120" y="3611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46120" y="395935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JS, không framework nặng, load nhanh, không cần cài đặt gì trên thiết bị người dùng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926080"/>
            <a:ext cx="2743200" cy="54864"/>
          </a:xfrm>
          <a:prstGeom prst="rect">
            <a:avLst/>
          </a:prstGeom>
          <a:solidFill>
            <a:srgbClr val="1B6B5A"/>
          </a:solidFill>
          <a:ln w="12700">
            <a:solidFill>
              <a:srgbClr val="1B6B5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3063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🗺️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6126480" y="3611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finder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26480" y="3959352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Tìm nhà thuốc/bệnh viện gần nhất qua GPS, dữ liệu OpenStreetMap, gợi ý câu hỏi AI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E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4572000" cy="4572000"/>
          </a:xfrm>
          <a:prstGeom prst="ellipse">
            <a:avLst/>
          </a:prstGeom>
          <a:solidFill>
            <a:srgbClr val="1B6B5A">
              <a:alpha val="35000"/>
            </a:srgbClr>
          </a:solidFill>
          <a:ln w="12700">
            <a:solidFill>
              <a:srgbClr val="1B6B5A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MediLịch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Quét đơn thuốc · AI phân tích · Bạn xác nhận · Nhắc tự động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1920240"/>
            <a:ext cx="6949440" cy="1920240"/>
          </a:xfrm>
          <a:prstGeom prst="rect">
            <a:avLst/>
          </a:prstGeom>
          <a:solidFill>
            <a:srgbClr val="1B6B5A">
              <a:alpha val="60000"/>
            </a:srgbClr>
          </a:solidFill>
          <a:ln w="12700">
            <a:solidFill>
              <a:srgbClr val="A8F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0574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Giải quyết vấn đề thực tế: 10–15 phút → vài giây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 toàn với 3 cấp độ kiểm tra (✓ Xanh / ⚠ Vàng / 🚫 Đỏ)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Người dùng luôn kiểm soát — AI chỉ hỗ trợ, không thay thế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Đầy đủ: Quét → Xác nhận → Nhắc → Tra cứu → Tìm nhà thuốc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F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 ơn các bạn đã lắng nghe! 🙏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A80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MediLịch - Nhắc Uống Thuốc Thông Minh</dc:title>
  <dc:subject>PptxGenJS Presentation</dc:subject>
  <dc:creator>PptxGenJS</dc:creator>
  <cp:lastModifiedBy>PptxGenJS</cp:lastModifiedBy>
  <cp:revision>1</cp:revision>
  <dcterms:created xsi:type="dcterms:W3CDTF">2026-06-04T03:54:51Z</dcterms:created>
  <dcterms:modified xsi:type="dcterms:W3CDTF">2026-06-04T03:54:51Z</dcterms:modified>
</cp:coreProperties>
</file>